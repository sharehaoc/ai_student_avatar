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8667bcd80b4c1b" /><Relationship Type="http://schemas.openxmlformats.org/officeDocument/2006/relationships/extended-properties" Target="/docProps/app.xml" Id="Rcf44d452afb14ace" /><Relationship Type="http://schemas.openxmlformats.org/officeDocument/2006/relationships/officeDocument" Target="/ppt/presentation.xml" Id="R7777f4c2b3474e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d336275db945d3"/>
  </p:sldMasterIdLst>
  <p:notesMasterIdLst>
    <p:notesMasterId xmlns:r="http://schemas.openxmlformats.org/officeDocument/2006/relationships" r:id="R470f054a3690442d"/>
  </p:notesMasterIdLst>
  <p:sldIdLst>
    <p:sldId xmlns:r="http://schemas.openxmlformats.org/officeDocument/2006/relationships" id="256" r:id="Ra6281a7fa3fe433b"/>
    <p:sldId xmlns:r="http://schemas.openxmlformats.org/officeDocument/2006/relationships" id="257" r:id="R2947f8d57ae54028"/>
    <p:sldId xmlns:r="http://schemas.openxmlformats.org/officeDocument/2006/relationships" id="258" r:id="R1c9cca6d43784c15"/>
    <p:sldId xmlns:r="http://schemas.openxmlformats.org/officeDocument/2006/relationships" id="259" r:id="R52d120d4600d400a"/>
    <p:sldId xmlns:r="http://schemas.openxmlformats.org/officeDocument/2006/relationships" id="260" r:id="R0d38ed535185479d"/>
    <p:sldId xmlns:r="http://schemas.openxmlformats.org/officeDocument/2006/relationships" id="261" r:id="R903437d83e614519"/>
    <p:sldId xmlns:r="http://schemas.openxmlformats.org/officeDocument/2006/relationships" id="262" r:id="R2540f68da2744154"/>
    <p:sldId xmlns:r="http://schemas.openxmlformats.org/officeDocument/2006/relationships" id="263" r:id="Ra8f9dee8a6a44391"/>
    <p:sldId xmlns:r="http://schemas.openxmlformats.org/officeDocument/2006/relationships" id="264" r:id="R61afee52eff74f3f"/>
    <p:sldId xmlns:r="http://schemas.openxmlformats.org/officeDocument/2006/relationships" id="265" r:id="Rea4e5c3af4d84b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b13c109e7c48a3" /><Relationship Type="http://schemas.openxmlformats.org/officeDocument/2006/relationships/slideMaster" Target="/ppt/slideMasters/slideMaster1.xml" Id="Ra3d336275db945d3" /><Relationship Type="http://schemas.openxmlformats.org/officeDocument/2006/relationships/notesMaster" Target="/ppt/notesMasters/notesMaster1.xml" Id="R470f054a3690442d" /><Relationship Type="http://schemas.openxmlformats.org/officeDocument/2006/relationships/presProps" Target="/ppt/presProps.xml" Id="R62d2d29c311446cc" /><Relationship Type="http://schemas.openxmlformats.org/officeDocument/2006/relationships/tableStyles" Target="/ppt/tableStyles.xml" Id="Rc0494df632724078" /><Relationship Type="http://schemas.openxmlformats.org/officeDocument/2006/relationships/slide" Target="/ppt/slides/slide1.xml" Id="Ra6281a7fa3fe433b" /><Relationship Type="http://schemas.openxmlformats.org/officeDocument/2006/relationships/slide" Target="/ppt/slides/slide2.xml" Id="R2947f8d57ae54028" /><Relationship Type="http://schemas.openxmlformats.org/officeDocument/2006/relationships/slide" Target="/ppt/slides/slide3.xml" Id="R1c9cca6d43784c15" /><Relationship Type="http://schemas.openxmlformats.org/officeDocument/2006/relationships/slide" Target="/ppt/slides/slide4.xml" Id="R52d120d4600d400a" /><Relationship Type="http://schemas.openxmlformats.org/officeDocument/2006/relationships/slide" Target="/ppt/slides/slide5.xml" Id="R0d38ed535185479d" /><Relationship Type="http://schemas.openxmlformats.org/officeDocument/2006/relationships/slide" Target="/ppt/slides/slide6.xml" Id="R903437d83e614519" /><Relationship Type="http://schemas.openxmlformats.org/officeDocument/2006/relationships/slide" Target="/ppt/slides/slide7.xml" Id="R2540f68da2744154" /><Relationship Type="http://schemas.openxmlformats.org/officeDocument/2006/relationships/slide" Target="/ppt/slides/slide8.xml" Id="Ra8f9dee8a6a44391" /><Relationship Type="http://schemas.openxmlformats.org/officeDocument/2006/relationships/slide" Target="/ppt/slides/slide9.xml" Id="R61afee52eff74f3f" /><Relationship Type="http://schemas.openxmlformats.org/officeDocument/2006/relationships/slide" Target="/ppt/slides/slide10.xml" Id="Rea4e5c3af4d84b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9726be4e0c43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c9a1e29c3f4078" /><Relationship Type="http://schemas.openxmlformats.org/officeDocument/2006/relationships/notesMaster" Target="/ppt/notesMasters/notesMaster1.xml" Id="Rb9069e6253a24b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5f305b1f934ab0" /><Relationship Type="http://schemas.openxmlformats.org/officeDocument/2006/relationships/notesMaster" Target="/ppt/notesMasters/notesMaster1.xml" Id="R43b6bcdc299e4b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42f34919e04bea" /><Relationship Type="http://schemas.openxmlformats.org/officeDocument/2006/relationships/notesMaster" Target="/ppt/notesMasters/notesMaster1.xml" Id="R10e93830712647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43fb231e6e4ab5" /><Relationship Type="http://schemas.openxmlformats.org/officeDocument/2006/relationships/notesMaster" Target="/ppt/notesMasters/notesMaster1.xml" Id="Rf7090c031b3e46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0929baff184598" /><Relationship Type="http://schemas.openxmlformats.org/officeDocument/2006/relationships/notesMaster" Target="/ppt/notesMasters/notesMaster1.xml" Id="Rf12a88bf95ee43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1e4c89c19a482d" /><Relationship Type="http://schemas.openxmlformats.org/officeDocument/2006/relationships/notesMaster" Target="/ppt/notesMasters/notesMaster1.xml" Id="R278acdb321c449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09c66e600d4928" /><Relationship Type="http://schemas.openxmlformats.org/officeDocument/2006/relationships/notesMaster" Target="/ppt/notesMasters/notesMaster1.xml" Id="R91f861329c9542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b5e8de95e543e4" /><Relationship Type="http://schemas.openxmlformats.org/officeDocument/2006/relationships/notesMaster" Target="/ppt/notesMasters/notesMaster1.xml" Id="Rf728c1ee12b64c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65b8ff43944aff" /><Relationship Type="http://schemas.openxmlformats.org/officeDocument/2006/relationships/notesMaster" Target="/ppt/notesMasters/notesMaster1.xml" Id="Rddf6545af1994a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64b3a76c604716" /><Relationship Type="http://schemas.openxmlformats.org/officeDocument/2006/relationships/notesMaster" Target="/ppt/notesMasters/notesMaster1.xml" Id="R673b62cb4cee45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5c28d14ba543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5fc690fd6646ba" /><Relationship Type="http://schemas.openxmlformats.org/officeDocument/2006/relationships/slideLayout" Target="/ppt/slideLayouts/slideLayout1.xml" Id="R75deb2509f4446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deb2509f4446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86d029460b4b01" /><Relationship Type="http://schemas.openxmlformats.org/officeDocument/2006/relationships/notesSlide" Target="/ppt/notesSlides/notesSlide1.xml" Id="R7f40615233534f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bfe847b414db6" /><Relationship Type="http://schemas.openxmlformats.org/officeDocument/2006/relationships/notesSlide" Target="/ppt/notesSlides/notesSlide2.xml" Id="Re1fda5e6bec447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59231417647c8" /><Relationship Type="http://schemas.openxmlformats.org/officeDocument/2006/relationships/notesSlide" Target="/ppt/notesSlides/notesSlide3.xml" Id="Rb5d8d082eb094e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18a0b9314a447a" /><Relationship Type="http://schemas.openxmlformats.org/officeDocument/2006/relationships/notesSlide" Target="/ppt/notesSlides/notesSlide4.xml" Id="Rdc904cd100b948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8f9bf6039459e" /><Relationship Type="http://schemas.openxmlformats.org/officeDocument/2006/relationships/notesSlide" Target="/ppt/notesSlides/notesSlide5.xml" Id="Rd74df19bb6724b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70b153fdf64cad" /><Relationship Type="http://schemas.openxmlformats.org/officeDocument/2006/relationships/notesSlide" Target="/ppt/notesSlides/notesSlide6.xml" Id="Rc8338b5fa0c74f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68be4e1f94088" /><Relationship Type="http://schemas.openxmlformats.org/officeDocument/2006/relationships/notesSlide" Target="/ppt/notesSlides/notesSlide7.xml" Id="Rb5b8eeaf683540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759a45c6c4f30" /><Relationship Type="http://schemas.openxmlformats.org/officeDocument/2006/relationships/notesSlide" Target="/ppt/notesSlides/notesSlide8.xml" Id="R67a67f24ad5747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ccf5bf670437f" /><Relationship Type="http://schemas.openxmlformats.org/officeDocument/2006/relationships/notesSlide" Target="/ppt/notesSlides/notesSlide9.xml" Id="R96745c86401f4c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a9d9e2de647ec" /><Relationship Type="http://schemas.openxmlformats.org/officeDocument/2006/relationships/notesSlide" Target="/ppt/notesSlides/notesSlide10.xml" Id="R5fa0bd08148944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3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5A1DF-687E-44EB-8F19-8AE4A247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9060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05B"/>
          </a:solidFill>
          <a:ln xmlns:a="http://schemas.openxmlformats.org/drawingml/2006/main" w="0">
            <a:solidFill>
              <a:srgbClr val="1D40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D1A6-D131-49BB-8D21-470F140C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000250"/>
            <a:ext cx="1381125" cy="1381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92ADF-31B6-45E6-9102-FCBED4D0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5757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D9C2"/>
          </a:solidFill>
          <a:ln xmlns:a="http://schemas.openxmlformats.org/drawingml/2006/main" w="0">
            <a:solidFill>
              <a:srgbClr val="78D9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993B5B-4D40-4E55-A8DE-90FD85B2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8D9C2"/>
                </a:solidFill>
              </a:defRPr>
            </a:pPr>
            <a:r>
              <a:rPr sz="1125" b="1">
                <a:solidFill>
                  <a:srgbClr val="78D9C2"/>
                </a:solidFill>
              </a:rPr>
              <a:t>PROJECT REPORT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4123B7-A53D-4694-AFCD-339D7FE8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6477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讓陪伴，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可以被聽見。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A79EF9-DD40-45BD-AFC1-4D2B65EA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7E5F2"/>
                </a:solidFill>
              </a:defRPr>
            </a:pPr>
            <a:r>
              <a:rPr sz="2100" b="0">
                <a:solidFill>
                  <a:srgbClr val="D7E5F2"/>
                </a:solidFill>
              </a:rPr>
              <a:t>陪伴聊天型 AI 語音分身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915577-F627-4F78-AF09-E8A198C9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1790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9C2"/>
          </a:solidFill>
          <a:ln xmlns:a="http://schemas.openxmlformats.org/drawingml/2006/main" w="0">
            <a:solidFill>
              <a:srgbClr val="78D9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CA222-3112-4BB1-9185-251691EA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E5F2"/>
                </a:solidFill>
              </a:defRPr>
            </a:pPr>
            <a:r>
              <a:rPr sz="1500" b="0">
                <a:solidFill>
                  <a:srgbClr val="D7E5F2"/>
                </a:solidFill>
              </a:rPr>
              <a:t>以自然語音互動、隱私保護與可持續優化為核心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25465-6852-443E-8807-76041452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388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4D8"/>
                </a:solidFill>
              </a:defRPr>
            </a:pPr>
            <a:r>
              <a:rPr sz="1050" b="0">
                <a:solidFill>
                  <a:srgbClr val="AFC4D8"/>
                </a:solidFill>
              </a:rPr>
              <a:t>2026.08｜一般使用者版專案報告</a:t>
            </a:r>
          </a:p>
        </p:txBody>
      </p:sp>
    </p:spTree>
    <p:extLst>
      <p:ext uri="{BB962C8B-B14F-4D97-AF65-F5344CB8AC3E}">
        <p14:creationId xmlns:p14="http://schemas.microsoft.com/office/powerpoint/2010/main" val="9008396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7EBC7A-024A-42E6-B06E-6B518EA2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WHY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1AE565-15E2-4A06-A1AF-DE8FF4C4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536"/>
                </a:solidFill>
              </a:defRPr>
            </a:pPr>
            <a:r>
              <a:rPr sz="2850" b="1">
                <a:solidFill>
                  <a:srgbClr val="152536"/>
                </a:solidFill>
              </a:rPr>
              <a:t>有些時候，人需要的只是有人好好回應。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DBF14-3DD1-437B-B282-0296F029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1"/>
          </a:solidFill>
          <a:ln xmlns:a="http://schemas.openxmlformats.org/drawingml/2006/main" w="0">
            <a:solidFill>
              <a:srgbClr val="C9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60B9A-96C0-4C5A-954F-A21E25EC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080"/>
                </a:solidFill>
              </a:defRPr>
            </a:pPr>
            <a:r>
              <a:rPr sz="1050" b="1">
                <a:solidFill>
                  <a:srgbClr val="607080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3C52F-AA66-4794-A39A-DAE2F807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AI 語音分身｜陪伴聊天者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6CBA7F-DA63-41A7-A5BF-6968B51C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536"/>
                </a:solidFill>
              </a:defRPr>
            </a:pPr>
            <a:r>
              <a:rPr sz="2100" b="1">
                <a:solidFill>
                  <a:srgbClr val="152536"/>
                </a:solidFill>
              </a:rPr>
              <a:t>日常壓力、孤單或想找人說話時，</a:t>
            </a:r>
          </a:p>
          <a:p xmlns:a="http://schemas.openxmlformats.org/drawingml/2006/main">
            <a:pPr algn="l">
              <a:defRPr sz="2100" b="1">
                <a:solidFill>
                  <a:srgbClr val="152536"/>
                </a:solidFill>
              </a:defRPr>
            </a:pPr>
            <a:r>
              <a:rPr sz="2100" b="1">
                <a:solidFill>
                  <a:srgbClr val="152536"/>
                </a:solidFill>
              </a:rPr>
              <a:t>不一定有人剛好在線。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A36323-E056-4744-BA43-A568E62B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31908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B1BFD-4CFC-45D5-B2AA-F0529653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9B2BC-9B00-4BDD-A40C-85535C93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2733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隨時可開始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58CAE-90DE-461E-BB32-6CBB7413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27336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不必預約；用說的就能開啟一段對話。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78E3A7-1580-4EF5-85F1-584EE485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81400"/>
            <a:ext cx="31908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AA5C7E-C6E5-48BC-B904-4359828B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8140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D9C2"/>
          </a:solidFill>
          <a:ln xmlns:a="http://schemas.openxmlformats.org/drawingml/2006/main" w="0">
            <a:solidFill>
              <a:srgbClr val="78D9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090039-6AE6-4028-B7EF-D4792F3C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733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D9C2"/>
                </a:solidFill>
              </a:defRPr>
            </a:pPr>
            <a:r>
              <a:rPr sz="1500" b="1">
                <a:solidFill>
                  <a:srgbClr val="78D9C2"/>
                </a:solidFill>
              </a:rPr>
              <a:t>沒有評價壓力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0ABA68-8F61-439E-BCB5-5B65BBB5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71950"/>
            <a:ext cx="27336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讓使用者能用自己的速度整理心情與想法。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0C4346-8B63-45CF-B041-98EBA4E6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81400"/>
            <a:ext cx="31908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3DCA88-32A8-4802-AD6B-C7E95870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8140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B26B"/>
          </a:solidFill>
          <a:ln xmlns:a="http://schemas.openxmlformats.org/drawingml/2006/main" w="0">
            <a:solidFill>
              <a:srgbClr val="F6B2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6F7547-A32F-4FE7-8415-8F0698ED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10000"/>
            <a:ext cx="2733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B26B"/>
                </a:solidFill>
              </a:defRPr>
            </a:pPr>
            <a:r>
              <a:rPr sz="1500" b="1">
                <a:solidFill>
                  <a:srgbClr val="F6B26B"/>
                </a:solidFill>
              </a:rPr>
              <a:t>仍保留真人界線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B8C272-1478-4B09-8AB0-7FFB4E27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27336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AI 提供陪伴，不取代家人、朋友或專業協助。</a:t>
            </a:r>
          </a:p>
        </p:txBody>
      </p:sp>
    </p:spTree>
    <p:extLst>
      <p:ext uri="{BB962C8B-B14F-4D97-AF65-F5344CB8AC3E}">
        <p14:creationId xmlns:p14="http://schemas.microsoft.com/office/powerpoint/2010/main" val="12138987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F8B2EA-F024-422C-8F97-44F4E194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THE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3A399E-6A85-4ED0-A6F5-09CCB2D5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536"/>
                </a:solidFill>
              </a:defRPr>
            </a:pPr>
            <a:r>
              <a:rPr sz="2850" b="1">
                <a:solidFill>
                  <a:srgbClr val="152536"/>
                </a:solidFill>
              </a:rPr>
              <a:t>一位能用聲音陪你聊天的 AI 夥伴。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36AF5-2BF8-47BC-9BA7-A462949E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1"/>
          </a:solidFill>
          <a:ln xmlns:a="http://schemas.openxmlformats.org/drawingml/2006/main" w="0">
            <a:solidFill>
              <a:srgbClr val="C9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ADE454-F3A3-4A1D-8740-8AFE991F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080"/>
                </a:solidFill>
              </a:defRPr>
            </a:pPr>
            <a:r>
              <a:rPr sz="1050" b="1">
                <a:solidFill>
                  <a:srgbClr val="607080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065233-9DD4-4893-8938-19DB3229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AI 語音分身｜陪伴聊天者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2F2926-034E-4779-8841-5B69E64E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924300" cy="299085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102337"/>
          </a:solidFill>
          <a:ln xmlns:a="http://schemas.openxmlformats.org/drawingml/2006/main" w="0">
            <a:solidFill>
              <a:srgbClr val="10233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D7A3D2-B0E4-4E91-A878-18ED2519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384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陪伴聊天者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74C774-8FF0-43DE-A7C0-A437F985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276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8F5"/>
                </a:solidFill>
              </a:defRPr>
            </a:pPr>
            <a:r>
              <a:rPr sz="1650" b="0">
                <a:solidFill>
                  <a:srgbClr val="D9E8F5"/>
                </a:solidFill>
              </a:rPr>
              <a:t>願意傾聽、自然回應，</a:t>
            </a:r>
          </a:p>
          <a:p xmlns:a="http://schemas.openxmlformats.org/drawingml/2006/main">
            <a:pPr algn="l">
              <a:defRPr sz="1650" b="0">
                <a:solidFill>
                  <a:srgbClr val="D9E8F5"/>
                </a:solidFill>
              </a:defRPr>
            </a:pPr>
            <a:r>
              <a:rPr sz="1650" b="0">
                <a:solidFill>
                  <a:srgbClr val="D9E8F5"/>
                </a:solidFill>
              </a:rPr>
              <a:t>也會在必要時提醒你</a:t>
            </a:r>
          </a:p>
          <a:p xmlns:a="http://schemas.openxmlformats.org/drawingml/2006/main">
            <a:pPr algn="l">
              <a:defRPr sz="1650" b="0">
                <a:solidFill>
                  <a:srgbClr val="D9E8F5"/>
                </a:solidFill>
              </a:defRPr>
            </a:pPr>
            <a:r>
              <a:rPr sz="1650" b="0">
                <a:solidFill>
                  <a:srgbClr val="D9E8F5"/>
                </a:solidFill>
              </a:rPr>
              <a:t>尋求真人協助。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D5C69C-AA4D-429B-9EE3-926F50B8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960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5926CD-89EC-4BEC-8CF2-5EF12354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672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語音優先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018584-8E8C-4311-AC05-CF9EC193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41960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D9C2"/>
          </a:solidFill>
          <a:ln xmlns:a="http://schemas.openxmlformats.org/drawingml/2006/main" w="0">
            <a:solidFill>
              <a:srgbClr val="78D9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836199-05C2-4F60-B347-8E5CDAFC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4672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可讀字幕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64AF7C-CE34-4C72-B139-F1D266F2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76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536"/>
                </a:solidFill>
              </a:defRPr>
            </a:pPr>
            <a:r>
              <a:rPr sz="1650" b="1">
                <a:solidFill>
                  <a:srgbClr val="152536"/>
                </a:solidFill>
              </a:rPr>
              <a:t>使用者說話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F6D7B9-A5EB-4A2B-93D0-99D7A1E8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718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080"/>
                </a:solidFill>
              </a:defRPr>
            </a:pPr>
            <a:r>
              <a:rPr sz="1425" b="0">
                <a:solidFill>
                  <a:srgbClr val="607080"/>
                </a:solidFill>
              </a:rPr>
              <a:t>AI 理解語意與情緒脈絡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8408D8-B801-4BD5-8E5E-802D38E0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1"/>
          </a:solidFill>
          <a:ln xmlns:a="http://schemas.openxmlformats.org/drawingml/2006/main" w="0">
            <a:solidFill>
              <a:srgbClr val="C9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9F0AD1-0B19-4E86-A108-F7BB9964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100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536"/>
                </a:solidFill>
              </a:defRPr>
            </a:pPr>
            <a:r>
              <a:rPr sz="1650" b="1">
                <a:solidFill>
                  <a:srgbClr val="152536"/>
                </a:solidFill>
              </a:rPr>
              <a:t>自然語音回答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7B6815-3BA2-4D6B-A2E6-97FF7637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053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080"/>
                </a:solidFill>
              </a:defRPr>
            </a:pPr>
            <a:r>
              <a:rPr sz="1425" b="0">
                <a:solidFill>
                  <a:srgbClr val="607080"/>
                </a:solidFill>
              </a:rPr>
              <a:t>逐字稿保留在專屬帳號內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466AAB-41CC-44A5-82D7-22B68E64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FD036F-84A7-4FDE-9C95-FEC5AD7E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90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D9C2"/>
          </a:solidFill>
          <a:ln xmlns:a="http://schemas.openxmlformats.org/drawingml/2006/main" w="0">
            <a:solidFill>
              <a:srgbClr val="78D9C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535537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8F85EC-DCF4-4EEF-9CD7-B9DEAB50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USER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0E872-F6A0-4887-86D9-84CC6FFD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536"/>
                </a:solidFill>
              </a:defRPr>
            </a:pPr>
            <a:r>
              <a:rPr sz="2850" b="1">
                <a:solidFill>
                  <a:srgbClr val="152536"/>
                </a:solidFill>
              </a:rPr>
              <a:t>從一句「我想聊聊」開始。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DD27F-B91E-430F-9F92-DADE0970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1"/>
          </a:solidFill>
          <a:ln xmlns:a="http://schemas.openxmlformats.org/drawingml/2006/main" w="0">
            <a:solidFill>
              <a:srgbClr val="C9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0B1C0-3AF7-4650-A956-3EBB0DD0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080"/>
                </a:solidFill>
              </a:defRPr>
            </a:pPr>
            <a:r>
              <a:rPr sz="1050" b="1">
                <a:solidFill>
                  <a:srgbClr val="607080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0026A-5C28-4E09-8089-6C82047E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AI 語音分身｜陪伴聊天者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FC272F-187B-47BF-BB04-A4586C7D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86150"/>
            <a:ext cx="804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1"/>
          </a:solidFill>
          <a:ln xmlns:a="http://schemas.openxmlformats.org/drawingml/2006/main" w="0">
            <a:solidFill>
              <a:srgbClr val="C9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8EB9B8-5550-4521-AB40-A7ABF9F6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B42642-08C0-4516-9C03-18321BF1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242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DCE5AA-4532-4A98-BB4A-8281BE7F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2536"/>
                </a:solidFill>
              </a:defRPr>
            </a:pPr>
            <a:r>
              <a:rPr sz="1575" b="1">
                <a:solidFill>
                  <a:srgbClr val="152536"/>
                </a:solidFill>
              </a:rPr>
              <a:t>登入帳號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237907-E1BB-47D9-AE5E-08BDC024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166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7080"/>
                </a:solidFill>
              </a:defRPr>
            </a:pPr>
            <a:r>
              <a:rPr sz="1200" b="0">
                <a:solidFill>
                  <a:srgbClr val="607080"/>
                </a:solidFill>
              </a:rPr>
              <a:t>建立自己的使用空間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14A374-5589-4CBC-9CED-637466B8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432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D9C2"/>
          </a:solidFill>
          <a:ln xmlns:a="http://schemas.openxmlformats.org/drawingml/2006/main" w="0">
            <a:solidFill>
              <a:srgbClr val="78D9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70A836-00D5-49F5-934E-05263C8E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242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CE193B-A0EE-433C-BACE-52AD384B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2100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2536"/>
                </a:solidFill>
              </a:defRPr>
            </a:pPr>
            <a:r>
              <a:rPr sz="1575" b="1">
                <a:solidFill>
                  <a:srgbClr val="152536"/>
                </a:solidFill>
              </a:rPr>
              <a:t>開始說話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DBF2B-7A21-4BB9-BE33-3742B62C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29150"/>
            <a:ext cx="166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7080"/>
                </a:solidFill>
              </a:defRPr>
            </a:pPr>
            <a:r>
              <a:rPr sz="1200" b="0">
                <a:solidFill>
                  <a:srgbClr val="607080"/>
                </a:solidFill>
              </a:rPr>
              <a:t>用麥克風自然說話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C373F6-9813-4D6A-BE07-6EA73A93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432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26B"/>
          </a:solidFill>
          <a:ln xmlns:a="http://schemas.openxmlformats.org/drawingml/2006/main" w="0">
            <a:solidFill>
              <a:srgbClr val="F6B2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DFD95D-7D80-4C93-86CC-A5A31EBC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242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FC838A-1068-4BC2-9F0C-66D5A8F3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2100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2536"/>
                </a:solidFill>
              </a:defRPr>
            </a:pPr>
            <a:r>
              <a:rPr sz="1575" b="1">
                <a:solidFill>
                  <a:srgbClr val="152536"/>
                </a:solidFill>
              </a:rPr>
              <a:t>即時回應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E04477-87BF-4D8B-BFC8-3CCD7AAC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629150"/>
            <a:ext cx="166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7080"/>
                </a:solidFill>
              </a:defRPr>
            </a:pPr>
            <a:r>
              <a:rPr sz="1200" b="0">
                <a:solidFill>
                  <a:srgbClr val="607080"/>
                </a:solidFill>
              </a:rPr>
              <a:t>聽見回答，也看見字幕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AA25A0-D7C6-4833-AE31-217698D9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7E4C64-FB3D-45BD-8D80-94CE1304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242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0A86BD-A07C-4916-BF37-F63F210C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100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2536"/>
                </a:solidFill>
              </a:defRPr>
            </a:pPr>
            <a:r>
              <a:rPr sz="1575" b="1">
                <a:solidFill>
                  <a:srgbClr val="152536"/>
                </a:solidFill>
              </a:rPr>
              <a:t>安心結束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021076-B17A-4CEA-A41B-DDE7A52F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29150"/>
            <a:ext cx="166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7080"/>
                </a:solidFill>
              </a:defRPr>
            </a:pPr>
            <a:r>
              <a:rPr sz="1200" b="0">
                <a:solidFill>
                  <a:srgbClr val="607080"/>
                </a:solidFill>
              </a:rPr>
              <a:t>保存對話或選擇不保留</a:t>
            </a:r>
          </a:p>
        </p:txBody>
      </p:sp>
    </p:spTree>
    <p:extLst>
      <p:ext uri="{BB962C8B-B14F-4D97-AF65-F5344CB8AC3E}">
        <p14:creationId xmlns:p14="http://schemas.microsoft.com/office/powerpoint/2010/main" val="4393828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4C06DF-A2D8-4042-B38E-463F4C09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CURRENT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16490-8A3C-42AB-9A54-F33FB912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536"/>
                </a:solidFill>
              </a:defRPr>
            </a:pPr>
            <a:r>
              <a:rPr sz="2850" b="1">
                <a:solidFill>
                  <a:srgbClr val="152536"/>
                </a:solidFill>
              </a:rPr>
              <a:t>核心骨架已具備，下一步是把它驗證成真正體驗。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C78891-9BD9-4CB5-BC49-F6257294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1"/>
          </a:solidFill>
          <a:ln xmlns:a="http://schemas.openxmlformats.org/drawingml/2006/main" w="0">
            <a:solidFill>
              <a:srgbClr val="C9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E3941-62EE-445F-8EEF-C5912FB4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080"/>
                </a:solidFill>
              </a:defRPr>
            </a:pPr>
            <a:r>
              <a:rPr sz="1050" b="1">
                <a:solidFill>
                  <a:srgbClr val="607080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A2B4D6-C355-4640-8531-4715B6D2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AI 語音分身｜陪伴聊天者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54084-8226-4502-9C58-504D8EB8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81012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929516-5B25-4214-91FC-EDDB881B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98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086B2-F9C8-4699-B14E-3557B590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812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2536"/>
                </a:solidFill>
              </a:defRPr>
            </a:pPr>
            <a:r>
              <a:rPr sz="1725" b="1">
                <a:solidFill>
                  <a:srgbClr val="152536"/>
                </a:solidFill>
              </a:rPr>
              <a:t>帳號與資料隔離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DB567A-23C0-4884-9A56-39148787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908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每位使用者只看得到自己的內容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5B94A4-69A3-421B-AFBA-81581C03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143125"/>
            <a:ext cx="481012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28FBDD-41E2-4FDF-A2EC-6B53D0F2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4098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D9C2"/>
          </a:solidFill>
          <a:ln xmlns:a="http://schemas.openxmlformats.org/drawingml/2006/main" w="0">
            <a:solidFill>
              <a:srgbClr val="78D9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60AC49-2880-4335-9B23-9533BB8B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3812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2536"/>
                </a:solidFill>
              </a:defRPr>
            </a:pPr>
            <a:r>
              <a:rPr sz="1725" b="1">
                <a:solidFill>
                  <a:srgbClr val="152536"/>
                </a:solidFill>
              </a:rPr>
              <a:t>語音對話與字幕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F36E9E-EDB0-4513-A29D-135020B7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7908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支援即時聽、說、字幕與逐字稿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35A47-139F-45EB-B992-9B97F46B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481012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FB35DB-4123-4E98-AE4C-ACC1B0A7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338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26B"/>
          </a:solidFill>
          <a:ln xmlns:a="http://schemas.openxmlformats.org/drawingml/2006/main" w="0">
            <a:solidFill>
              <a:srgbClr val="F6B2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CCAA1B-F0E1-442E-9B22-D7CFAB80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052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2536"/>
                </a:solidFill>
              </a:defRPr>
            </a:pPr>
            <a:r>
              <a:rPr sz="1725" b="1">
                <a:solidFill>
                  <a:srgbClr val="152536"/>
                </a:solidFill>
              </a:rPr>
              <a:t>人格與頭像管理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9C7291-BF7C-4B4F-8869-3D8DB432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148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可建立專屬角色、開場白與外觀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BB9CEA-A750-4F3D-8890-74C24957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667125"/>
            <a:ext cx="481012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47927B-0D57-4D85-91F3-3FBBED40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9338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AA9ACC-592F-41F7-8745-B7C26749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9052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2536"/>
                </a:solidFill>
              </a:defRPr>
            </a:pPr>
            <a:r>
              <a:rPr sz="1725" b="1">
                <a:solidFill>
                  <a:srgbClr val="152536"/>
                </a:solidFill>
              </a:rPr>
              <a:t>額度與安全保護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FC7086-62A4-4397-B4D1-D0B08E2C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3148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限制濫用、保護服務成本與資料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FFA146-A690-418B-A2BD-9B8389A7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7"/>
                </a:solidFill>
              </a:defRPr>
            </a:pPr>
            <a:r>
              <a:rPr sz="1350" b="1">
                <a:solidFill>
                  <a:srgbClr val="102337"/>
                </a:solidFill>
              </a:rPr>
              <a:t>目前狀態：程式與多項離線測試已完成；完整真人語音流程仍待最後驗證。</a:t>
            </a:r>
          </a:p>
        </p:txBody>
      </p:sp>
    </p:spTree>
    <p:extLst>
      <p:ext uri="{BB962C8B-B14F-4D97-AF65-F5344CB8AC3E}">
        <p14:creationId xmlns:p14="http://schemas.microsoft.com/office/powerpoint/2010/main" val="4234325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9DD202-B91C-410B-96B2-21D2D9D2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TRUST BY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82087-80F5-48A9-AB4D-04222825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536"/>
                </a:solidFill>
              </a:defRPr>
            </a:pPr>
            <a:r>
              <a:rPr sz="2850" b="1">
                <a:solidFill>
                  <a:srgbClr val="152536"/>
                </a:solidFill>
              </a:rPr>
              <a:t>陪伴感建立在信任之上。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BFA7D-BAAD-4071-B3B3-BE313417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1"/>
          </a:solidFill>
          <a:ln xmlns:a="http://schemas.openxmlformats.org/drawingml/2006/main" w="0">
            <a:solidFill>
              <a:srgbClr val="C9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6933AC-D2F3-4A6E-9400-92C73B81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080"/>
                </a:solidFill>
              </a:defRPr>
            </a:pPr>
            <a:r>
              <a:rPr sz="1050" b="1">
                <a:solidFill>
                  <a:srgbClr val="607080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3CE077-5545-475E-9F0D-F069674B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AI 語音分身｜陪伴聊天者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3EE95C-1A81-4F2D-946C-75396EE5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2536"/>
                </a:solidFill>
              </a:defRPr>
            </a:pPr>
            <a:r>
              <a:rPr sz="1950" b="1">
                <a:solidFill>
                  <a:srgbClr val="152536"/>
                </a:solidFill>
              </a:rPr>
              <a:t>三個使用者能感受到的保護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02A105-2679-4AAE-9B18-DCCAADAD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1908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4D6EA9-AC9F-4431-9ABF-61133640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C63479-CC04-4C6B-91A7-C73C102E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2733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專屬帳號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6FDF54-6859-4CC4-B982-DA9C307D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27336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對話與逐字稿只在自己的帳號範圍內查看。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F19782-2650-401E-909D-B1610A9A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57500"/>
            <a:ext cx="31908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997BF1-B80C-4D1E-9815-922F8394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5750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D9C2"/>
          </a:solidFill>
          <a:ln xmlns:a="http://schemas.openxmlformats.org/drawingml/2006/main" w="0">
            <a:solidFill>
              <a:srgbClr val="78D9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E8F904-19CF-4034-9B05-698DCC89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86100"/>
            <a:ext cx="2733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D9C2"/>
                </a:solidFill>
              </a:defRPr>
            </a:pPr>
            <a:r>
              <a:rPr sz="1500" b="1">
                <a:solidFill>
                  <a:srgbClr val="78D9C2"/>
                </a:solidFill>
              </a:rPr>
              <a:t>最小保存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528485-A522-47F4-98DD-3381E8E9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48050"/>
            <a:ext cx="27336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只保存需要的內容；記憶功能須由使用者同意。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2C710A-1C3D-41B0-AE4E-1D3968F2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57500"/>
            <a:ext cx="31908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61714D-1D3E-4857-A206-C31AE09E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5750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B26B"/>
          </a:solidFill>
          <a:ln xmlns:a="http://schemas.openxmlformats.org/drawingml/2006/main" w="0">
            <a:solidFill>
              <a:srgbClr val="F6B2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90FF0A-D977-4782-9428-E376FDC1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86100"/>
            <a:ext cx="2733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B26B"/>
                </a:solidFill>
              </a:defRPr>
            </a:pPr>
            <a:r>
              <a:rPr sz="1500" b="1">
                <a:solidFill>
                  <a:srgbClr val="F6B26B"/>
                </a:solidFill>
              </a:rPr>
              <a:t>清楚界線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EA11E6-9A9D-486A-838B-514CBB20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48050"/>
            <a:ext cx="27336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遇到醫療、危險或自傷議題，優先引導真人專業協助。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A8C18B-95AD-49A7-85A6-3D698A6D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7"/>
                </a:solidFill>
              </a:defRPr>
            </a:pPr>
            <a:r>
              <a:rPr sz="1650" b="1">
                <a:solidFill>
                  <a:srgbClr val="102337"/>
                </a:solidFill>
              </a:rPr>
              <a:t>我們追求的是「被陪伴」，不是讓使用者誤以為 AI 可以取代真人關係。</a:t>
            </a:r>
          </a:p>
        </p:txBody>
      </p:sp>
    </p:spTree>
    <p:extLst>
      <p:ext uri="{BB962C8B-B14F-4D97-AF65-F5344CB8AC3E}">
        <p14:creationId xmlns:p14="http://schemas.microsoft.com/office/powerpoint/2010/main" val="4254559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8425DD-C697-4ADB-976A-1D33BCB2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WHAT WE WILL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83A33D-6085-4A36-B037-32980464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536"/>
                </a:solidFill>
              </a:defRPr>
            </a:pPr>
            <a:r>
              <a:rPr sz="2850" b="1">
                <a:solidFill>
                  <a:srgbClr val="152536"/>
                </a:solidFill>
              </a:rPr>
              <a:t>先讓關鍵體驗可靠，再讓陪伴更有溫度。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C777D3-6630-45C9-B81C-712184F8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1"/>
          </a:solidFill>
          <a:ln xmlns:a="http://schemas.openxmlformats.org/drawingml/2006/main" w="0">
            <a:solidFill>
              <a:srgbClr val="C9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D13B2-8362-4FAF-ABE0-B663942A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080"/>
                </a:solidFill>
              </a:defRPr>
            </a:pPr>
            <a:r>
              <a:rPr sz="1050" b="1">
                <a:solidFill>
                  <a:srgbClr val="607080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66887-97F3-4958-8BF1-D44BB1CD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AI 語音分身｜陪伴聊天者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AD524-7C3D-4144-9EBF-78A229C2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200400" cy="25146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1EE502-BCFF-4EFA-AE5F-693D640D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960AA3-B090-4541-9AB2-DBB09070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2619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A71744-ABAE-40B0-83FA-D881ED3E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2536"/>
                </a:solidFill>
              </a:defRPr>
            </a:pPr>
            <a:r>
              <a:rPr sz="1875" b="1">
                <a:solidFill>
                  <a:srgbClr val="152536"/>
                </a:solidFill>
              </a:rPr>
              <a:t>真實語音驗證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BC8232-BAE7-4246-87D9-2D258125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0"/>
                </a:solidFill>
              </a:defRPr>
            </a:pPr>
            <a:r>
              <a:rPr sz="1350" b="0">
                <a:solidFill>
                  <a:srgbClr val="607080"/>
                </a:solidFill>
              </a:rPr>
              <a:t>確認聽懂、回覆、語音播放與逐字稿完整成功。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C65C18-65EF-42B7-A703-C49FA9BE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81250"/>
            <a:ext cx="3200400" cy="25146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404AA6-5BFB-43C8-B0A6-577155AE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2890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8D9C2"/>
                </a:solidFill>
              </a:defRPr>
            </a:pPr>
            <a:r>
              <a:rPr sz="1800" b="1">
                <a:solidFill>
                  <a:srgbClr val="78D9C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389038-E245-4B54-A993-2B295EF2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05150"/>
            <a:ext cx="2619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9C2"/>
          </a:solidFill>
          <a:ln xmlns:a="http://schemas.openxmlformats.org/drawingml/2006/main" w="0">
            <a:solidFill>
              <a:srgbClr val="78D9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F54A4E-9285-413E-A776-0D85536B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9090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2536"/>
                </a:solidFill>
              </a:defRPr>
            </a:pPr>
            <a:r>
              <a:rPr sz="1875" b="1">
                <a:solidFill>
                  <a:srgbClr val="152536"/>
                </a:solidFill>
              </a:rPr>
              <a:t>陪伴感優化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4A63F3-B324-41F8-81C9-68C8C7C0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2430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0"/>
                </a:solidFill>
              </a:defRPr>
            </a:pPr>
            <a:r>
              <a:rPr sz="1350" b="0">
                <a:solidFill>
                  <a:srgbClr val="607080"/>
                </a:solidFill>
              </a:rPr>
              <a:t>設定頭像、開場白、語氣與安全回應界線。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B229FF-0097-495C-8AA1-D143F404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81250"/>
            <a:ext cx="3200400" cy="25146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6296AF-72CF-4E70-907A-218637E9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2890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B26B"/>
                </a:solidFill>
              </a:defRPr>
            </a:pPr>
            <a:r>
              <a:rPr sz="1800" b="1">
                <a:solidFill>
                  <a:srgbClr val="F6B26B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0C3F79-E0E2-41E1-82A6-63D9C5F8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05150"/>
            <a:ext cx="2619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6B"/>
          </a:solidFill>
          <a:ln xmlns:a="http://schemas.openxmlformats.org/drawingml/2006/main" w="0">
            <a:solidFill>
              <a:srgbClr val="F6B26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CB0EAB-4C5C-47BB-A1A8-4D49FA28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9090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2536"/>
                </a:solidFill>
              </a:defRPr>
            </a:pPr>
            <a:r>
              <a:rPr sz="1875" b="1">
                <a:solidFill>
                  <a:srgbClr val="152536"/>
                </a:solidFill>
              </a:rPr>
              <a:t>記憶與備援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63D793-066C-49EF-A5EB-C34C99F1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2430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0"/>
                </a:solidFill>
              </a:defRPr>
            </a:pPr>
            <a:r>
              <a:rPr sz="1350" b="0">
                <a:solidFill>
                  <a:srgbClr val="607080"/>
                </a:solidFill>
              </a:rPr>
              <a:t>加入同意式記憶，以及文字聊天備用入口。</a:t>
            </a:r>
          </a:p>
        </p:txBody>
      </p:sp>
    </p:spTree>
    <p:extLst>
      <p:ext uri="{BB962C8B-B14F-4D97-AF65-F5344CB8AC3E}">
        <p14:creationId xmlns:p14="http://schemas.microsoft.com/office/powerpoint/2010/main" val="12471635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78B679-A0E4-4C7C-B7A8-D2CBA606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WHY VOICE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E8B076-77BF-470B-AFAB-84148FAA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536"/>
                </a:solidFill>
              </a:defRPr>
            </a:pPr>
            <a:r>
              <a:rPr sz="2850" b="1">
                <a:solidFill>
                  <a:srgbClr val="152536"/>
                </a:solidFill>
              </a:rPr>
              <a:t>聲音讓互動更像一段自然的陪伴。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EA3F0-6424-4501-ADE0-9734F52B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1"/>
          </a:solidFill>
          <a:ln xmlns:a="http://schemas.openxmlformats.org/drawingml/2006/main" w="0">
            <a:solidFill>
              <a:srgbClr val="C9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F86EF-F363-4A30-81B6-D31866C6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080"/>
                </a:solidFill>
              </a:defRPr>
            </a:pPr>
            <a:r>
              <a:rPr sz="1050" b="1">
                <a:solidFill>
                  <a:srgbClr val="607080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6D355-31C9-4963-9703-8641438F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AI 語音分身｜陪伴聊天者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D622BD-448C-4CFA-9F86-467848DB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762500" cy="293370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102337"/>
          </a:solidFill>
          <a:ln xmlns:a="http://schemas.openxmlformats.org/drawingml/2006/main" w="0">
            <a:solidFill>
              <a:srgbClr val="10233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3CDA4-524C-45C6-8E0C-336CEDBD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「我今天有點累。」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A3B72B-AF2A-4A68-B3DD-E92D303A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99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E5F2"/>
                </a:solidFill>
              </a:defRPr>
            </a:pPr>
            <a:r>
              <a:rPr sz="1575" b="0">
                <a:solidFill>
                  <a:srgbClr val="D7E5F2"/>
                </a:solidFill>
              </a:rPr>
              <a:t>一句話裡，不只包含文字，</a:t>
            </a:r>
          </a:p>
          <a:p xmlns:a="http://schemas.openxmlformats.org/drawingml/2006/main">
            <a:pPr algn="l">
              <a:defRPr sz="1575" b="0">
                <a:solidFill>
                  <a:srgbClr val="D7E5F2"/>
                </a:solidFill>
              </a:defRPr>
            </a:pPr>
            <a:r>
              <a:rPr sz="1575" b="0">
                <a:solidFill>
                  <a:srgbClr val="D7E5F2"/>
                </a:solidFill>
              </a:rPr>
              <a:t>也有停頓、速度與情緒。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A65E67-0266-499C-AF2C-FB0B4DC6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43400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D9C2"/>
          </a:solidFill>
          <a:ln xmlns:a="http://schemas.openxmlformats.org/drawingml/2006/main" w="0">
            <a:solidFill>
              <a:srgbClr val="78D9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44F43-C66D-45F4-8365-EFA17E87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910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自然表達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C2F5CA-595F-4D2E-BA94-59E2B791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717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2536"/>
                </a:solidFill>
              </a:defRPr>
            </a:pPr>
            <a:r>
              <a:rPr sz="1950" b="1">
                <a:solidFill>
                  <a:srgbClr val="152536"/>
                </a:solidFill>
              </a:rPr>
              <a:t>語音帶來的三件事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CD98F1-ABB1-4C34-9ACB-D2A06098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95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A26C05-B86F-471C-BA6A-18505EBC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860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536"/>
                </a:solidFill>
              </a:defRPr>
            </a:pPr>
            <a:r>
              <a:rPr sz="1500" b="1">
                <a:solidFill>
                  <a:srgbClr val="152536"/>
                </a:solidFill>
              </a:rPr>
              <a:t>不用打字，也能快速開始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2D4BA7-2906-4D4D-B62E-5C19DD86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623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D9C2"/>
          </a:solidFill>
          <a:ln xmlns:a="http://schemas.openxmlformats.org/drawingml/2006/main" w="0">
            <a:solidFill>
              <a:srgbClr val="78D9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041DD6-749D-44C0-AEEB-117316E1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528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536"/>
                </a:solidFill>
              </a:defRPr>
            </a:pPr>
            <a:r>
              <a:rPr sz="1500" b="1">
                <a:solidFill>
                  <a:srgbClr val="152536"/>
                </a:solidFill>
              </a:rPr>
              <a:t>字幕讓內容可回看、可確認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9ACC10-CB09-4340-9104-12236AD4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291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26B"/>
          </a:solidFill>
          <a:ln xmlns:a="http://schemas.openxmlformats.org/drawingml/2006/main" w="0">
            <a:solidFill>
              <a:srgbClr val="F6B2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63979D-94F9-4554-A4BF-A99C7445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195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536"/>
                </a:solidFill>
              </a:defRPr>
            </a:pPr>
            <a:r>
              <a:rPr sz="1500" b="1">
                <a:solidFill>
                  <a:srgbClr val="152536"/>
                </a:solidFill>
              </a:rPr>
              <a:t>回覆的聲音增加陪伴感</a:t>
            </a:r>
          </a:p>
        </p:txBody>
      </p:sp>
    </p:spTree>
    <p:extLst>
      <p:ext uri="{BB962C8B-B14F-4D97-AF65-F5344CB8AC3E}">
        <p14:creationId xmlns:p14="http://schemas.microsoft.com/office/powerpoint/2010/main" val="5032185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87A62E-80F2-4032-ABE7-81B40D5A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HONEST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47BD2-01FE-4839-A104-85DB4CE1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536"/>
                </a:solidFill>
              </a:defRPr>
            </a:pPr>
            <a:r>
              <a:rPr sz="2850" b="1">
                <a:solidFill>
                  <a:srgbClr val="152536"/>
                </a:solidFill>
              </a:rPr>
              <a:t>現在能做什麼，以及還要補上的最後一哩路。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FAD8D7-94DC-4BDF-BB56-2C91935E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1"/>
          </a:solidFill>
          <a:ln xmlns:a="http://schemas.openxmlformats.org/drawingml/2006/main" w="0">
            <a:solidFill>
              <a:srgbClr val="C9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5EBFB-E368-420F-9BEF-DF5E1E6F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080"/>
                </a:solidFill>
              </a:defRPr>
            </a:pPr>
            <a:r>
              <a:rPr sz="1050" b="1">
                <a:solidFill>
                  <a:srgbClr val="607080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03E9B6-EF71-428E-9BBC-B324857F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AI 語音分身｜陪伴聊天者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B4DC8-6DCD-4512-9351-76F0111D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8D9C2"/>
                </a:solidFill>
              </a:defRPr>
            </a:pPr>
            <a:r>
              <a:rPr sz="2100" b="1">
                <a:solidFill>
                  <a:srgbClr val="78D9C2"/>
                </a:solidFill>
              </a:rPr>
              <a:t>已具備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D5E75-F805-442F-9E61-9EE63A4C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145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B26B"/>
                </a:solidFill>
              </a:defRPr>
            </a:pPr>
            <a:r>
              <a:rPr sz="2100" b="1">
                <a:solidFill>
                  <a:srgbClr val="F6B26B"/>
                </a:solidFill>
              </a:rPr>
              <a:t>下一步驗證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313DC-FDB9-4FCC-8348-8835C94E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76250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BCCE38-C339-45E1-9F2D-089D566E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67000"/>
            <a:ext cx="476250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915A6B-DAA0-4671-BB08-87935FBA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3905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2536"/>
                </a:solidFill>
              </a:defRPr>
            </a:pPr>
            <a:r>
              <a:rPr sz="1500" b="0">
                <a:solidFill>
                  <a:srgbClr val="152536"/>
                </a:solidFill>
              </a:rPr>
              <a:t>• 登入與專屬帳號</a:t>
            </a:r>
          </a:p>
          <a:p xmlns:a="http://schemas.openxmlformats.org/drawingml/2006/main">
            <a:pPr algn="l">
              <a:defRPr sz="1500" b="0">
                <a:solidFill>
                  <a:srgbClr val="152536"/>
                </a:solidFill>
              </a:defRPr>
            </a:pPr>
            <a:r>
              <a:rPr sz="1500" b="0">
                <a:solidFill>
                  <a:srgbClr val="152536"/>
                </a:solidFill>
              </a:rPr>
              <a:t>• AI 人格、頭像與管理後台</a:t>
            </a:r>
          </a:p>
          <a:p xmlns:a="http://schemas.openxmlformats.org/drawingml/2006/main">
            <a:pPr algn="l">
              <a:defRPr sz="1500" b="0">
                <a:solidFill>
                  <a:srgbClr val="152536"/>
                </a:solidFill>
              </a:defRPr>
            </a:pPr>
            <a:r>
              <a:rPr sz="1500" b="0">
                <a:solidFill>
                  <a:srgbClr val="152536"/>
                </a:solidFill>
              </a:rPr>
              <a:t>• 語音介面、字幕與逐字稿</a:t>
            </a:r>
          </a:p>
          <a:p xmlns:a="http://schemas.openxmlformats.org/drawingml/2006/main">
            <a:pPr algn="l">
              <a:defRPr sz="1500" b="0">
                <a:solidFill>
                  <a:srgbClr val="152536"/>
                </a:solidFill>
              </a:defRPr>
            </a:pPr>
            <a:r>
              <a:rPr sz="1500" b="0">
                <a:solidFill>
                  <a:srgbClr val="152536"/>
                </a:solidFill>
              </a:rPr>
              <a:t>• 資料隔離、額度與請求保護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DD49A7-BDEA-4C09-8CED-3DF60384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48000"/>
            <a:ext cx="3905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2536"/>
                </a:solidFill>
              </a:defRPr>
            </a:pPr>
            <a:r>
              <a:rPr sz="1500" b="0">
                <a:solidFill>
                  <a:srgbClr val="152536"/>
                </a:solidFill>
              </a:rPr>
              <a:t>• 1～2 分鐘真人通話驗收</a:t>
            </a:r>
          </a:p>
          <a:p xmlns:a="http://schemas.openxmlformats.org/drawingml/2006/main">
            <a:pPr algn="l">
              <a:defRPr sz="1500" b="0">
                <a:solidFill>
                  <a:srgbClr val="152536"/>
                </a:solidFill>
              </a:defRPr>
            </a:pPr>
            <a:r>
              <a:rPr sz="1500" b="0">
                <a:solidFill>
                  <a:srgbClr val="152536"/>
                </a:solidFill>
              </a:rPr>
              <a:t>• 麥克風、網路與音量實聽</a:t>
            </a:r>
          </a:p>
          <a:p xmlns:a="http://schemas.openxmlformats.org/drawingml/2006/main">
            <a:pPr algn="l">
              <a:defRPr sz="1500" b="0">
                <a:solidFill>
                  <a:srgbClr val="152536"/>
                </a:solidFill>
              </a:defRPr>
            </a:pPr>
            <a:r>
              <a:rPr sz="1500" b="0">
                <a:solidFill>
                  <a:srgbClr val="152536"/>
                </a:solidFill>
              </a:rPr>
              <a:t>• 語音辨識、AI 回答與語音合成</a:t>
            </a:r>
          </a:p>
          <a:p xmlns:a="http://schemas.openxmlformats.org/drawingml/2006/main">
            <a:pPr algn="l">
              <a:defRPr sz="1500" b="0">
                <a:solidFill>
                  <a:srgbClr val="152536"/>
                </a:solidFill>
              </a:defRPr>
            </a:pPr>
            <a:r>
              <a:rPr sz="1500" b="0">
                <a:solidFill>
                  <a:srgbClr val="152536"/>
                </a:solidFill>
              </a:rPr>
              <a:t>• 斷線與保存狀態的體驗確認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E4EE5A-56F9-4B8D-B4C8-11424EA1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7"/>
                </a:solidFill>
              </a:defRPr>
            </a:pPr>
            <a:r>
              <a:rPr sz="1575" b="1">
                <a:solidFill>
                  <a:srgbClr val="102337"/>
                </a:solidFill>
              </a:rPr>
              <a:t>不把「程式已寫好」說成「使用者體驗已完全驗證」。</a:t>
            </a:r>
          </a:p>
        </p:txBody>
      </p:sp>
    </p:spTree>
    <p:extLst>
      <p:ext uri="{BB962C8B-B14F-4D97-AF65-F5344CB8AC3E}">
        <p14:creationId xmlns:p14="http://schemas.microsoft.com/office/powerpoint/2010/main" val="5736944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3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E7CBB0-4754-4BE6-98C8-44E0C465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8D9C2"/>
                </a:solidFill>
              </a:defRPr>
            </a:pPr>
            <a:r>
              <a:rPr sz="1125" b="1">
                <a:solidFill>
                  <a:srgbClr val="78D9C2"/>
                </a:solidFill>
              </a:rPr>
              <a:t>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0BABA-7B28-41BA-9521-FD501502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把一次真實對話，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變成可被信任的陪伴。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6AF6E-7F9A-4F50-AF23-6AA280BB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E5F2"/>
                </a:solidFill>
              </a:defRPr>
            </a:pPr>
            <a:r>
              <a:rPr sz="1650" b="0">
                <a:solidFill>
                  <a:srgbClr val="D7E5F2"/>
                </a:solidFill>
              </a:rPr>
              <a:t>先完成短時間語音驗證，再依回饋優化聲音、語氣與記憶。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E0EA5-5309-4B29-8933-1912423B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19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9C2"/>
          </a:solidFill>
          <a:ln xmlns:a="http://schemas.openxmlformats.org/drawingml/2006/main" w="0">
            <a:solidFill>
              <a:srgbClr val="78D9C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F6E793-9B95-49BA-BF73-6021123A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AI 語音分身｜陪伴聊天者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558C9-8171-4575-8145-743D8CF9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4D8"/>
                </a:solidFill>
              </a:defRPr>
            </a:pPr>
            <a:r>
              <a:rPr sz="1350" b="0">
                <a:solidFill>
                  <a:srgbClr val="AFC4D8"/>
                </a:solidFill>
              </a:rPr>
              <a:t>為一般使用者打造：自然、安心、可持續優化的對話體驗。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995CEA-17AF-4AD6-85F9-E8A53575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192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03C5D-9574-4A81-BA80-5149C4D8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908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D9C2"/>
          </a:solidFill>
          <a:ln xmlns:a="http://schemas.openxmlformats.org/drawingml/2006/main" w="0">
            <a:solidFill>
              <a:srgbClr val="78D9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C398C8-7002-41E4-93C6-0AE76A92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638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26B"/>
          </a:solidFill>
          <a:ln xmlns:a="http://schemas.openxmlformats.org/drawingml/2006/main" w="0">
            <a:solidFill>
              <a:srgbClr val="F6B26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883720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2026-08-22T03:58:57.4310000Z</dcterms:created>
  <dcterms:modified xsi:type="dcterms:W3CDTF">2026-08-22T03:58:57.4310000Z</dcterms:modified>
</coreProperties>
</file>